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574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AGORA Weight Sensitivity (W = 0–2.0)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57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C8E8"/>
                </a:solidFill>
              </a:defRPr>
            </a:pPr>
            <a:r>
              <a:t>Phase transition to 100% sign agreement at W = 1.0</a:t>
            </a:r>
          </a:p>
        </p:txBody>
      </p:sp>
      <p:pic>
        <p:nvPicPr>
          <p:cNvPr id="5" name="Picture 4" descr="fig_agora_weigh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42" y="777240"/>
            <a:ext cx="8224867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989320"/>
            <a:ext cx="11640312" cy="731520"/>
          </a:xfrm>
          <a:prstGeom prst="rect">
            <a:avLst/>
          </a:prstGeom>
          <a:solidFill>
            <a:srgbClr val="EDFAF3"/>
          </a:solidFill>
          <a:ln w="25400">
            <a:solidFill>
              <a:srgbClr val="3A9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/>
            </a:pPr>
            <a:r>
              <a:t>W=1.0 optimal: LOO-RMSE = 0.0504 (min), SA jumps 94%→100%. Panel A: U-shaped RMSE vs W. Panel B: Bray-Curtis (min 0.147 at W=2.0, W=1.0 near-optimal 0.1468). Panel C: per-patient heatmap — Patients A and F most sensitive.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574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 Prior Coverage — Layer-by-Layer (AGORA 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57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C8E8"/>
                </a:solidFill>
              </a:defRPr>
            </a:pPr>
            <a:r>
              <a:t>3×2: rows = L1+L2 / L1+L2+AGORA v1 / Unconstrained   ·   cols = Symmetric (Hamilton) / Directed (gLV)</a:t>
            </a:r>
          </a:p>
        </p:txBody>
      </p:sp>
      <p:pic>
        <p:nvPicPr>
          <p:cNvPr id="5" name="Picture 4" descr="fig_sign_prior_3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82" y="777240"/>
            <a:ext cx="3472988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989320"/>
            <a:ext cx="11640312" cy="731520"/>
          </a:xfrm>
          <a:prstGeom prst="rect">
            <a:avLst/>
          </a:prstGeom>
          <a:solidFill>
            <a:srgbClr val="EEF4FB"/>
          </a:solidFill>
          <a:ln w="25400">
            <a:solidFill>
              <a:srgbClr val="4C8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/>
            </a:pPr>
            <a:r>
              <a:t>v1 ORAL_MEDIUM (blood-plasma scale): all 24 AGORA-added pairs positive — no competition signal. L1+L2: 11/45 sym constrained. L1+L2+AGORA v1: 33/45 sym. Amber ✕ = 2 pairs where AGORA cancelled L1+L2 signal (Actin–γ-Prot, γ-Prot–Negat).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574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AGORA v1 vs v2 — Realistic Saliva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57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C8E8"/>
                </a:solidFill>
              </a:defRPr>
            </a:pPr>
            <a:r>
              <a:t>v1: blood-plasma scale (~100× too high)   ·   v2: Dawes 2008 saliva + MacArthur cosine competition</a:t>
            </a:r>
          </a:p>
        </p:txBody>
      </p:sp>
      <p:pic>
        <p:nvPicPr>
          <p:cNvPr id="5" name="Picture 4" descr="fig_agora_v1_v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045" y="777240"/>
            <a:ext cx="4428861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897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/>
            </a:pPr>
            <a:r>
              <a:t>Root cause of v1 all-positive:</a:t>
            </a:r>
          </a:p>
          <a:p>
            <a:pPr>
              <a:defRPr sz="1250"/>
            </a:pPr>
            <a:r>
              <a:t>Glucose v1: 10.0 mmol/gDW/h (saliva: ~0.10)</a:t>
            </a:r>
          </a:p>
          <a:p>
            <a:pPr>
              <a:defRPr sz="1250"/>
            </a:pPr>
            <a:r>
              <a:t>Amino acids v1: 0.5–2.0 → v2: 0.02–0.10</a:t>
            </a:r>
          </a:p>
          <a:p>
            <a:pPr>
              <a:defRPr sz="1250"/>
            </a:pPr>
            <a:r>
              <a:t>Surplus nutrients → cross-feeding dominates</a:t>
            </a:r>
          </a:p>
          <a:p>
            <a:pPr>
              <a:defRPr sz="1250"/>
            </a:pPr>
            <a:r>
              <a:t>→ 24 AGORA-added pairs, all positive</a:t>
            </a:r>
          </a:p>
          <a:p>
            <a:pPr>
              <a:defRPr sz="1250"/>
            </a:pPr>
          </a:p>
          <a:p>
            <a:pPr>
              <a:defRPr b="1" sz="1250"/>
            </a:pPr>
            <a:r>
              <a:t>v2 fix:</a:t>
            </a:r>
          </a:p>
          <a:p>
            <a:pPr>
              <a:defRPr sz="1250"/>
            </a:pPr>
            <a:r>
              <a:t>Realistic saliva concentrations (Dawes 2008)</a:t>
            </a:r>
          </a:p>
          <a:p>
            <a:pPr>
              <a:defRPr sz="1250"/>
            </a:pPr>
            <a:r>
              <a:t>MacArthur cosine niche overlap for competition</a:t>
            </a:r>
          </a:p>
          <a:p>
            <a:pPr>
              <a:defRPr sz="1250"/>
            </a:pPr>
            <a:r>
              <a:t>α_ij = (c_i·c_j)/(|c_i||c_j|)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897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/>
            </a:pPr>
            <a:r>
              <a:t>           v1        v2</a:t>
            </a:r>
          </a:p>
          <a:p>
            <a:pPr>
              <a:defRPr sz="1250"/>
            </a:pPr>
            <a:r>
              <a:t>μ (Bacilli) 1659/h   35/h ✓</a:t>
            </a:r>
          </a:p>
          <a:p>
            <a:pPr>
              <a:defRPr sz="1250"/>
            </a:pPr>
            <a:r>
              <a:t>AGORA+      24       10</a:t>
            </a:r>
          </a:p>
          <a:p>
            <a:pPr>
              <a:defRPr sz="1250"/>
            </a:pPr>
            <a:r>
              <a:t>AGORA−       0       14  ← emerges</a:t>
            </a:r>
          </a:p>
          <a:p>
            <a:pPr>
              <a:defRPr sz="1250"/>
            </a:pPr>
            <a:r>
              <a:t>Constrained 33/45   35/45</a:t>
            </a:r>
          </a:p>
          <a:p>
            <a:pPr>
              <a:defRPr sz="1250"/>
            </a:pPr>
            <a:r>
              <a:t>Directed    57/90   68/90</a:t>
            </a:r>
          </a:p>
          <a:p>
            <a:pPr>
              <a:defRPr sz="1250"/>
            </a:pPr>
            <a:r>
              <a:t>Bact–Fusob  free    negative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574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Sign Prior Coverage — AGORA v2 (Realistic Saliva)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574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C8E8"/>
                </a:solidFill>
              </a:defRPr>
            </a:pPr>
            <a:r>
              <a:t>Competition signals emerge from MacArthur niche overlap   ·   35/45 sym, 68/90 directed constrained</a:t>
            </a:r>
          </a:p>
        </p:txBody>
      </p:sp>
      <p:pic>
        <p:nvPicPr>
          <p:cNvPr id="5" name="Picture 4" descr="fig_sign_prior_3x2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82" y="777240"/>
            <a:ext cx="3472988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989320"/>
            <a:ext cx="11640312" cy="731520"/>
          </a:xfrm>
          <a:prstGeom prst="rect">
            <a:avLst/>
          </a:prstGeom>
          <a:solidFill>
            <a:srgbClr val="EDFAF3"/>
          </a:solidFill>
          <a:ln w="25400">
            <a:solidFill>
              <a:srgbClr val="3A9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/>
            </a:pPr>
            <a:r>
              <a:t>v2 improvements: AGORA−=14 sym (was 0). Bact–Fusob acquires negative prior (competition). 2 previously cancelled pairs resolved (amber ✕ gone). LOO-CV with v2 prior: planned next step to quantify prediction improvement.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Guild-Level Dynamical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DD8E6"/>
                </a:solidFill>
              </a:rPr>
              <a:t>Keystone · Network · Tipping · Relapse · Prevention · Phase Diagram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Guild-Level Keystone Analysis: Knockout BC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Which guild, when removed, shifts the community most?</a:t>
            </a:r>
          </a:p>
        </p:txBody>
      </p:sp>
      <p:pic>
        <p:nvPicPr>
          <p:cNvPr id="5" name="Picture 4" descr="knockout_bars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819286"/>
            <a:ext cx="9144000" cy="30548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🔑  Bacilli: highest BC divergence (0.839) — compositional keystone. Removal increases volume → competitive suppressor.   |  Actinobacteria: vol_drop = +0.846 → growth engine. Strongest interaction: Acti → Baci  A = +3.43.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Guild Network Centrality: Influence, Vulnerability, Net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Column-sum |A| = influence;  Row-sum |A| = vulnerability;  Σ A_ij = net mutualist (+) / competitor (−)</a:t>
            </a:r>
          </a:p>
        </p:txBody>
      </p:sp>
      <p:pic>
        <p:nvPicPr>
          <p:cNvPr id="5" name="Picture 4" descr="guild_centralit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099318"/>
            <a:ext cx="9144000" cy="4494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Actinobacteria: influence = 5.58 (highest), net = +2.02 (mutualist hub).  Bacilli: vulnerability = 8.24 (most regulated by others).  Betaproteobacteria: net = −0.14 → net competitor.  LOO sign consistency: Acti→* = 1.0 (stable across all 10 folds); Gamm→* ≈ 0 (data-limited).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 Matrix Statistical Validation: Permutation Test (n = 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Null: shuffle patient labels → refit A → p-value = fraction of |A_perm| ≥ |A_real|  (parallelised, 24 cores)</a:t>
            </a:r>
          </a:p>
        </p:txBody>
      </p:sp>
      <p:pic>
        <p:nvPicPr>
          <p:cNvPr id="5" name="Picture 4" descr="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314025"/>
            <a:ext cx="9144000" cy="40653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2 / 90 pairs significant at p &lt; 0.05: Baci→Acti (A = +3.43, p = 0.040) and Gamm→Clos (A = −0.023, p = 0.040).  |  LOO confirms Acti→* sign stability (SC = 1.0 all folds); Gamm→* unstable (SC ≈ 0).  |  Low significance consistent with N = 10 — A matrix structure reflects ecology, not noise.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Tipping Point Analysis: CT2 → CT1 b-Environment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Left: α-interpolation b(α) = (1-α)·b_CT2 + α·b_CT1  |  Right: single-guild b sweep |ΔGDI|</a:t>
            </a:r>
          </a:p>
        </p:txBody>
      </p:sp>
      <p:pic>
        <p:nvPicPr>
          <p:cNvPr id="5" name="Picture 4" descr="tipping_alpha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585524"/>
            <a:ext cx="5728716" cy="3202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α-scan: no GDI=0 crossing (single commensal attractor)</a:t>
            </a:r>
          </a:p>
        </p:txBody>
      </p:sp>
      <p:pic>
        <p:nvPicPr>
          <p:cNvPr id="7" name="Picture 6" descr="tipping_single_g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196" y="2142551"/>
            <a:ext cx="5728716" cy="2088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4476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Single-guild effect sizes: Gamm #1, Bact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No α* crossing: A matrix drives system to commensal for all b interpolations — structural attractor dominant.  |  Top drivers: Gammaproteobacteria (ΔGDI = 1.04) and Bacteroidia (ΔGDI = 0.94).  |  Equilibrium GDI: Patient D = −0.48 (only commensal); all others &gt; 0 (dysbiotic).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2D Phase Diagram: Gammaproteobacteria × Bacteroidia Growth-Rate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20 × 20 grid · all other b at CT2 mean · week-3 GDI · black dashed = GDI = 0 tipping boundary</a:t>
            </a:r>
          </a:p>
        </p:txBody>
      </p:sp>
      <p:pic>
        <p:nvPicPr>
          <p:cNvPr id="5" name="Picture 4" descr="tipping_phase_diagram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315" y="749808"/>
            <a:ext cx="6218320" cy="5193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Gamm × Bact: top-2 single-guild tipping drivers (ΔGDI 1.04 and 0.94).  GDI = 0 boundary visible — commensal region at low b_Gamm and low b_Bact.  CT2 mean (▼) deep in dysbiotic zone; CT1 mean (▲) near tipping boundary.  → Joint reduction of Gamm and Bact growth rates is the most efficient ecological intervention.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Predicted Relapse Dynamics: Three Patient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Long-time simulation (t = 150 d) from patient-specific b vectors</a:t>
            </a:r>
          </a:p>
        </p:txBody>
      </p:sp>
      <p:pic>
        <p:nvPicPr>
          <p:cNvPr id="5" name="Picture 4" descr="relapse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608018"/>
            <a:ext cx="5728716" cy="3157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GDI trajectories to 90 days (per patient)</a:t>
            </a:r>
          </a:p>
        </p:txBody>
      </p:sp>
      <p:pic>
        <p:nvPicPr>
          <p:cNvPr id="7" name="Picture 6" descr="gdi_w3_vs_re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196" y="1170819"/>
            <a:ext cx="5728716" cy="4031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4476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Week-3 GDI → relapse day (prognostic marker)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① Persistent dysbiotic (A,B,E,F,H,K): GDI &gt; 0 throughout.  ② Transient responder (C→24d, G→38d, L→48d): commensal at wk-3, dysbiotic by t &lt; 50d.  ③ Permanent commensal (D): only patient with stable GDI &lt; 0.  → Week-3 GDI as prognostic marker: lower = longer remission.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Prevention Threshold &amp; External Validation (Joshi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Min. Δb_i needed to prevent relapse  |  Model equilibrium vs peri-implantitis reference</a:t>
            </a:r>
          </a:p>
        </p:txBody>
      </p:sp>
      <p:pic>
        <p:nvPicPr>
          <p:cNvPr id="5" name="Picture 4" descr="prevention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243747"/>
            <a:ext cx="5728716" cy="3885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Required Δb per guild (patient C only actionable)</a:t>
            </a:r>
          </a:p>
        </p:txBody>
      </p:sp>
      <p:pic>
        <p:nvPicPr>
          <p:cNvPr id="7" name="Picture 6" descr="joshi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196" y="1424559"/>
            <a:ext cx="5728716" cy="3524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4476" y="5696712"/>
            <a:ext cx="58201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3A5C"/>
                </a:solidFill>
              </a:rPr>
              <a:t>Predicted eq. GDI vs Joshi PI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Prevention: only Patient C convertible by single-guild intervention (Δb_Bact = 1.33). Patients G &amp; L require multi-guild change → deep attractor.  |  External validation: predicted equilibrium GDI = +0.65 ≈ Joshi PI mean +0.53  (9/10 patients in PI range, difference &lt; 0.12 within Joshi SD=1.30).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3D Attractor Landscape: GDI = 0 Boundary in Growth-Rate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Equilibrium GDI on 18³ grid (Acti × Baci × Bact), 12-core parallel, t = 80 d</a:t>
            </a:r>
          </a:p>
        </p:txBody>
      </p:sp>
      <p:pic>
        <p:nvPicPr>
          <p:cNvPr id="5" name="Picture 4" descr="phase3d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599497"/>
            <a:ext cx="9144000" cy="34944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D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053328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5C"/>
                </a:solidFill>
              </a:rPr>
              <a:t>98% of parameter space is dysbiotic (GDI &gt; 0).  Commensal region (blue) confined to b_Bact &lt; ~1.5 — Bacteroidia growth rate is the dominant control variable.  CT1 patients with low b_Bact (G, K, L) cluster near boundary; CT2 patients (A: b_Bact=4.5) deep in dysbiotic zone.  → Confirms: attractor robustness is structural, not initial-condition sensitive.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
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Weight Sensitivity (W = 0–2.0)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Phase transition to 100% sign agreement at W = 1.0</a:t>
            </a:r>
          </a:p>
        </p:txBody>
      </p:sp>
      <p:pic>
        <p:nvPicPr>
          <p:cNvPr id="5" name="Picture 4" descr="fig_agora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042" y="777240"/>
            <a:ext cx="8224867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W=1.0 optimal: LOO-RMSE = 0.0504 (min), SA jumps 94%→100%. Panel A: U-shaped RMSE vs W. Panel B: Bray-Curtis (min 0.147 at W=2.0, W=1.0 near-optimal 0.1468). Panel C: per-patient heatmap — Patients A and F most sensitive.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Layer-by-Layer (AGORA v1)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3×2: rows = L1+L2 / L1+L2+AGORA v1 / Unconstrained   ·   cols = Symmetric (Hamilton) / Directed (gLV)</a:t>
            </a:r>
          </a:p>
        </p:txBody>
      </p:sp>
      <p:pic>
        <p:nvPicPr>
          <p:cNvPr id="5" name="Picture 4" descr="fig_sign_prior_3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EF4FB"/>
          </a:solidFill>
          <a:ln w="25400">
            <a:solidFill>
              <a:srgbClr val="4C8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v1 ORAL_MEDIUM (blood-plasma scale): all 24 AGORA-added pairs positive — no competition signal. L1+L2: 11/45 sym constrained. L1+L2+AGORA v1: 33/45 sym. Amber ✕ = 2 pairs where AGORA cancelled L1+L2 signal (Actin–γ-Prot, γ-Prot–Negat).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v1 vs v2 — Realistic Saliva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v1: blood-plasma scale (~100× too high)   ·   v2: Dawes 2008 saliva + MacArthur cosine competition</a:t>
            </a:r>
          </a:p>
        </p:txBody>
      </p:sp>
      <p:pic>
        <p:nvPicPr>
          <p:cNvPr id="5" name="Picture 4" descr="fig_agora_v1_v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045" y="777240"/>
            <a:ext cx="4428861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97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/>
            </a:pPr>
            <a:r>
              <a:t>Root cause of v1 all-positive:</a:t>
            </a:r>
          </a:p>
          <a:p>
            <a:pPr>
              <a:defRPr sz="1250"/>
            </a:pPr>
            <a:r>
              <a:t>Glucose v1: 10.0 mmol/gDW/h (saliva: ~0.10)</a:t>
            </a:r>
          </a:p>
          <a:p>
            <a:pPr>
              <a:defRPr sz="1250"/>
            </a:pPr>
            <a:r>
              <a:t>Amino acids v1: 0.5–2.0 → v2: 0.02–0.10</a:t>
            </a:r>
          </a:p>
          <a:p>
            <a:pPr>
              <a:defRPr sz="1250"/>
            </a:pPr>
            <a:r>
              <a:t>Surplus nutrients → cross-feeding dominates</a:t>
            </a:r>
          </a:p>
          <a:p>
            <a:pPr>
              <a:defRPr sz="1250"/>
            </a:pPr>
            <a:r>
              <a:t>→ 24 AGORA-added pairs, all positive</a:t>
            </a:r>
          </a:p>
          <a:p>
            <a:pPr>
              <a:defRPr sz="1250"/>
            </a:pPr>
          </a:p>
          <a:p>
            <a:pPr>
              <a:defRPr b="1" sz="1250"/>
            </a:pPr>
            <a:r>
              <a:t>v2 fix:</a:t>
            </a:r>
          </a:p>
          <a:p>
            <a:pPr>
              <a:defRPr sz="1250"/>
            </a:pPr>
            <a:r>
              <a:t>Realistic saliva concentrations (Dawes 2008)</a:t>
            </a:r>
          </a:p>
          <a:p>
            <a:pPr>
              <a:defRPr sz="1250"/>
            </a:pPr>
            <a:r>
              <a:t>MacArthur cosine niche overlap for competition</a:t>
            </a:r>
          </a:p>
          <a:p>
            <a:pPr>
              <a:defRPr sz="1250"/>
            </a:pPr>
            <a:r>
              <a:t>α_ij = (c_i·c_j)/(|c_i||c_j|)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8978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           v1        v2</a:t>
            </a:r>
          </a:p>
          <a:p>
            <a:pPr>
              <a:defRPr sz="1250"/>
            </a:pPr>
            <a:r>
              <a:t>μ (Bacilli) 1659/h   35/h ✓</a:t>
            </a:r>
          </a:p>
          <a:p>
            <a:pPr>
              <a:defRPr sz="1250"/>
            </a:pPr>
            <a:r>
              <a:t>AGORA+      24       10</a:t>
            </a:r>
          </a:p>
          <a:p>
            <a:pPr>
              <a:defRPr sz="1250"/>
            </a:pPr>
            <a:r>
              <a:t>AGORA−       0       14  ← emerges</a:t>
            </a:r>
          </a:p>
          <a:p>
            <a:pPr>
              <a:defRPr sz="1250"/>
            </a:pPr>
            <a:r>
              <a:t>Constrained 33/45   35/45</a:t>
            </a:r>
          </a:p>
          <a:p>
            <a:pPr>
              <a:defRPr sz="1250"/>
            </a:pPr>
            <a:r>
              <a:t>Directed    57/90   68/90</a:t>
            </a:r>
          </a:p>
          <a:p>
            <a:pPr>
              <a:defRPr sz="1250"/>
            </a:pPr>
            <a:r>
              <a:t>Bact–Fusob  free    negative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AGORA v2 (Realistic Saliva)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Competition signals emerge from MacArthur niche overlap   ·   35/45 sym, 68/90 directed constrained</a:t>
            </a:r>
          </a:p>
        </p:txBody>
      </p:sp>
      <p:pic>
        <p:nvPicPr>
          <p:cNvPr id="5" name="Picture 4" descr="fig_sign_prior_3x2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v2 improvements: AGORA−=14 sym (was 0). Bact–Fusob acquires negative prior (competition). 2 previously cancelled pairs resolved (amber ✕ gone). LOO-CV with v2 prior: planned next step to quantify prediction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
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Sign Prior Layer 3: なぜ MICOM を選んだか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DFF"/>
                </a:solidFill>
              </a:rPr>
              <a:t>— 単種 pFBA / MacArthur / Growth-Rate Suppression の失敗と MICOM への移行 —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5394960" cy="384048"/>
          </a:xfrm>
          <a:prstGeom prst="rect">
            <a:avLst/>
          </a:prstGeom>
          <a:solidFill>
            <a:srgbClr val="CC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188720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❌  MacArthur コサイン類似度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527048"/>
            <a:ext cx="5394960" cy="2084832"/>
          </a:xfrm>
          <a:prstGeom prst="rect">
            <a:avLst/>
          </a:prstGeom>
          <a:solidFill>
            <a:srgbClr val="F0F2F5"/>
          </a:solidFill>
          <a:ln w="12700">
            <a:solidFill>
              <a:srgbClr val="CC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618488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11111"/>
                </a:solidFill>
              </a:rPr>
              <a:t>• competition[i,j] = (c_i · c_j) / (|c_i| |c_j|)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96596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11111"/>
                </a:solidFill>
              </a:rPr>
              <a:t>• 失敗理由: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313432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</a:rPr>
              <a:t>    口腔菌はすべて generalist（アミノ酸・糖を全員が使う）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615184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</a:rPr>
              <a:t>    → cosine ≈ 1.0 for all pairs → 全ペアが競合と誤判定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2916936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</a:rPr>
              <a:t>    MacArthur (1970) の前提「種ごとに異なるニッチ資源」が不成立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794760"/>
            <a:ext cx="5394960" cy="384048"/>
          </a:xfrm>
          <a:prstGeom prst="rect">
            <a:avLst/>
          </a:prstGeom>
          <a:solidFill>
            <a:srgbClr val="CC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3840480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❌  Growth Rate Suppression (GRS)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4178808"/>
            <a:ext cx="5394960" cy="2176272"/>
          </a:xfrm>
          <a:prstGeom prst="rect">
            <a:avLst/>
          </a:prstGeom>
          <a:solidFill>
            <a:srgbClr val="F0F2F5"/>
          </a:solidFill>
          <a:ln w="12700">
            <a:solidFill>
              <a:srgbClr val="CC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4270248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11111"/>
                </a:solidFill>
              </a:rPr>
              <a:t>• competition[i,j] = (μ_i(full) − μ_i(depleted)) / μ_i(full)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461772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11111"/>
                </a:solidFill>
              </a:rPr>
              <a:t>• 失敗理由: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4965192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</a:rPr>
              <a:t>    v2 唾液培地が極度に乏しく、菌は barely surviving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5266944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</a:rPr>
              <a:t>    → j の uptake で何かが枯渇すると i が完全に成長停止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5568696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</a:rPr>
              <a:t>    81 / 90 ペアで Δμ/μ ≈ 100%  → 非特異的すぎて使えない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0" y="1143000"/>
            <a:ext cx="5943600" cy="384048"/>
          </a:xfrm>
          <a:prstGeom prst="rect">
            <a:avLst/>
          </a:prstGeom>
          <a:solidFill>
            <a:srgbClr val="E07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80760" y="1188720"/>
            <a:ext cx="5669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⚠️  単種 pFBA（v1 / v2）の限界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0" y="1527048"/>
            <a:ext cx="5943600" cy="2084832"/>
          </a:xfrm>
          <a:prstGeom prst="rect">
            <a:avLst/>
          </a:prstGeom>
          <a:solidFill>
            <a:srgbClr val="F0F2F5"/>
          </a:solidFill>
          <a:ln w="12700">
            <a:solidFill>
              <a:srgbClr val="E07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35040" y="1618488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11111"/>
                </a:solidFill>
              </a:rPr>
              <a:t>• 各菌を独立に FBA → 代謝物の「移動可能性」しか見ない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35040" y="196596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11111"/>
                </a:solidFill>
              </a:rPr>
              <a:t>• 実際に j から i へ代謝物が流れているか不明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35040" y="2313432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11111"/>
                </a:solidFill>
              </a:rPr>
              <a:t>• v1: 培地が現実の 100 倍豊富 → シグナルは強いが非現実的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35040" y="2660904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11111"/>
                </a:solidFill>
              </a:rPr>
              <a:t>• v2: 培地が乏しすぎ → cross-feeding シグナルが弱い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35040" y="3008376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11111"/>
                </a:solidFill>
              </a:rPr>
              <a:t>• 競合シグナル: MacArthur/GRS ともに失敗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43600" y="3794760"/>
            <a:ext cx="5943600" cy="2560320"/>
          </a:xfrm>
          <a:prstGeom prst="rect">
            <a:avLst/>
          </a:prstGeom>
          <a:solidFill>
            <a:srgbClr val="E8F4EC"/>
          </a:solidFill>
          <a:ln w="25400">
            <a:solidFill>
              <a:srgbClr val="1A73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80760" y="388620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A7340"/>
                </a:solidFill>
              </a:rPr>
              <a:t>✅  MICOM の採用理由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80760" y="4343400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11111"/>
                </a:solidFill>
              </a:rPr>
              <a:t>• 10 菌を同時に入れた community FBA を解く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80760" y="4681728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11111"/>
                </a:solidFill>
              </a:rPr>
              <a:t>• → 実際に代謝物が j から i へ「流れているか」を直接確認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80760" y="5020056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11111"/>
                </a:solidFill>
              </a:rPr>
              <a:t>• → 口腔菌 generalist 問題を回避（ニッチ競合でなくフラックス）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80760" y="5358383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7340"/>
                </a:solidFill>
              </a:rPr>
              <a:t>• → Streptococcus → Veillonella 乳酸 cross-feeding を直接実証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80760" y="5696712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7340"/>
                </a:solidFill>
              </a:rPr>
              <a:t>• → Sign Agreement: 100% (36/36)  vs  v1: 88% (29/33)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MICOM のメカニズム: Community FBA + Cooperative Tradeoff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DFF"/>
                </a:solidFill>
              </a:rPr>
              <a:t>Diener et al. 2020, mSystems 5:e00606-19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2834640" cy="411480"/>
          </a:xfrm>
          <a:prstGeom prst="rect">
            <a:avLst/>
          </a:prstGeom>
          <a:solidFill>
            <a:srgbClr val="3A6E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23444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Step 1: 10 guild モデルを統合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600200"/>
            <a:ext cx="2834640" cy="1737360"/>
          </a:xfrm>
          <a:prstGeom prst="rect">
            <a:avLst/>
          </a:prstGeom>
          <a:solidFill>
            <a:srgbClr val="F0F2F5"/>
          </a:solidFill>
          <a:ln w="12700">
            <a:solidFill>
              <a:srgbClr val="3A6E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664208"/>
            <a:ext cx="265176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111"/>
                </a:solidFill>
              </a:rPr>
              <a:t>AGORA2 SBML × 10 guild
→ 1 つの community モデル
（共有培地プール）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54680" y="214884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3A6EC8"/>
                </a:solidFill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91839" y="1188720"/>
            <a:ext cx="2834640" cy="411480"/>
          </a:xfrm>
          <a:prstGeom prst="rect">
            <a:avLst/>
          </a:prstGeom>
          <a:solidFill>
            <a:srgbClr val="3A6E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3279" y="123444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Step 2: Cooperative Tradeoff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91839" y="1600200"/>
            <a:ext cx="2834640" cy="1737360"/>
          </a:xfrm>
          <a:prstGeom prst="rect">
            <a:avLst/>
          </a:prstGeom>
          <a:solidFill>
            <a:srgbClr val="F0F2F5"/>
          </a:solidFill>
          <a:ln w="12700">
            <a:solidFill>
              <a:srgbClr val="3A6E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83279" y="1664208"/>
            <a:ext cx="265176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111"/>
                </a:solidFill>
              </a:rPr>
              <a:t>maximize  min_i(μ_i / μ_i_max)
s.t.  Σμ_i ≥ τ × Σμ_i_max
τ = 0.5 (Diener 2020 default)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199" y="214884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3A6EC8"/>
                </a:solidFill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59" y="1188720"/>
            <a:ext cx="2834640" cy="411480"/>
          </a:xfrm>
          <a:prstGeom prst="rect">
            <a:avLst/>
          </a:prstGeom>
          <a:solidFill>
            <a:srgbClr val="3A6E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799" y="123444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Step 3: Flux 方向を抽出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59" y="1600200"/>
            <a:ext cx="2834640" cy="1737360"/>
          </a:xfrm>
          <a:prstGeom prst="rect">
            <a:avLst/>
          </a:prstGeom>
          <a:solidFill>
            <a:srgbClr val="F0F2F5"/>
          </a:solidFill>
          <a:ln w="12700">
            <a:solidFill>
              <a:srgbClr val="3A6E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799" y="1664208"/>
            <a:ext cx="265176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111"/>
                </a:solidFill>
              </a:rPr>
              <a:t>各 exchange rxn につき
  分泌菌 (flux &gt; 0)
  消費菌 (flux &lt; 0)
→ 実際の代謝物移動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89719" y="214884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3A6EC8"/>
                </a:solidFill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0" y="1188720"/>
            <a:ext cx="2834640" cy="411480"/>
          </a:xfrm>
          <a:prstGeom prst="rect">
            <a:avLst/>
          </a:prstGeom>
          <a:solidFill>
            <a:srgbClr val="3A6E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18320" y="123444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Step 4: Sign Prior 生成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326880" y="1600200"/>
            <a:ext cx="2834640" cy="1737360"/>
          </a:xfrm>
          <a:prstGeom prst="rect">
            <a:avLst/>
          </a:prstGeom>
          <a:solidFill>
            <a:srgbClr val="F0F2F5"/>
          </a:solidFill>
          <a:ln w="12700">
            <a:solidFill>
              <a:srgbClr val="3A6E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18320" y="1664208"/>
            <a:ext cx="265176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111"/>
                </a:solidFill>
              </a:rPr>
              <a:t>pos[i,j] += min(src, |tgt|)
（flux 量で重み付け）
neg[i,j]: H₂O₂, H₂S → 全菌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520440"/>
            <a:ext cx="7315200" cy="2377440"/>
          </a:xfrm>
          <a:prstGeom prst="rect">
            <a:avLst/>
          </a:prstGeom>
          <a:solidFill>
            <a:srgbClr val="E8F4EC"/>
          </a:solidFill>
          <a:ln w="19050">
            <a:solidFill>
              <a:srgbClr val="1A73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" y="3566160"/>
            <a:ext cx="7040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7340"/>
                </a:solidFill>
              </a:rPr>
              <a:t>実測 Community Flux の例: Streptococcus → Veillonella 乳酸 cross-feeding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4005072"/>
            <a:ext cx="7040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111"/>
                </a:solidFill>
              </a:rPr>
              <a:t>EX_lac_L(e):
  Bacilli   (Streptococcus)  secretion  = +97.7 mmol/gDW/h
  Negativicutes (Veillonella) uptake     = −97.9 mmol/gDW/h
  → pos[Negativicutes, Bacilli] += 97.7   (高重み)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863840" y="3520440"/>
            <a:ext cx="4023360" cy="2377440"/>
          </a:xfrm>
          <a:prstGeom prst="rect">
            <a:avLst/>
          </a:prstGeom>
          <a:solidFill>
            <a:srgbClr val="F0F0FF"/>
          </a:solidFill>
          <a:ln w="19050">
            <a:solidFill>
              <a:srgbClr val="3A6E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01000" y="356616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3D7A"/>
                </a:solidFill>
              </a:rPr>
              <a:t>なぜ Generalist 問題を解決？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01000" y="4005072"/>
            <a:ext cx="37490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111"/>
                </a:solidFill>
              </a:rPr>
              <a:t>全員が同じ資源を使えても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01000" y="4325112"/>
            <a:ext cx="37490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111"/>
                </a:solidFill>
              </a:rPr>
              <a:t>→ community FBA で資源を「分配」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01000" y="4645152"/>
            <a:ext cx="37490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111"/>
                </a:solidFill>
              </a:rPr>
              <a:t>→ 各菌が実際に使う経路が決まる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01000" y="4965191"/>
            <a:ext cx="37490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111"/>
                </a:solidFill>
              </a:rPr>
              <a:t/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01000" y="5285232"/>
            <a:ext cx="37490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111"/>
                </a:solidFill>
              </a:rPr>
              <a:t>MacArthur: 使える？ (static)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1000" y="5605272"/>
            <a:ext cx="37490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D7A"/>
                </a:solidFill>
              </a:rPr>
              <a:t>MICOM: 実際に使った？ (dynamic)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MICOM Sign Prior: 結果比較と "Perfect" 版の改良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DFF"/>
                </a:solidFill>
              </a:rPr>
              <a:t>sign agreement / constrained pairs / LOO-RMSE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1714500" cy="411480"/>
          </a:xfrm>
          <a:prstGeom prst="rect">
            <a:avLst/>
          </a:prstGeom>
          <a:solidFill>
            <a:srgbClr val="1A3D7A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7472" y="1225296"/>
            <a:ext cx="1568196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手法</a:t>
            </a:r>
          </a:p>
        </p:txBody>
      </p:sp>
      <p:sp>
        <p:nvSpPr>
          <p:cNvPr id="8" name="Rectangle 7"/>
          <p:cNvSpPr/>
          <p:nvPr/>
        </p:nvSpPr>
        <p:spPr>
          <a:xfrm>
            <a:off x="1988820" y="1188720"/>
            <a:ext cx="1714500" cy="411480"/>
          </a:xfrm>
          <a:prstGeom prst="rect">
            <a:avLst/>
          </a:prstGeom>
          <a:solidFill>
            <a:srgbClr val="1A3D7A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61972" y="1225296"/>
            <a:ext cx="1568196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Sign Agreement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03320" y="1188720"/>
            <a:ext cx="1714500" cy="411480"/>
          </a:xfrm>
          <a:prstGeom prst="rect">
            <a:avLst/>
          </a:prstGeom>
          <a:solidFill>
            <a:srgbClr val="1A3D7A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76472" y="1225296"/>
            <a:ext cx="1568196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制約ペア数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17820" y="1188720"/>
            <a:ext cx="1714500" cy="411480"/>
          </a:xfrm>
          <a:prstGeom prst="rect">
            <a:avLst/>
          </a:prstGeom>
          <a:solidFill>
            <a:srgbClr val="1A3D7A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90972" y="1225296"/>
            <a:ext cx="1568196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備考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1600200"/>
            <a:ext cx="1714500" cy="384048"/>
          </a:xfrm>
          <a:prstGeom prst="rect">
            <a:avLst/>
          </a:prstGeom>
          <a:solidFill>
            <a:srgbClr val="F0F2F5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472" y="1636776"/>
            <a:ext cx="15681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11111"/>
                </a:solidFill>
              </a:rPr>
              <a:t>文献 L1+L2 のみ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988820" y="1600200"/>
            <a:ext cx="1714500" cy="384048"/>
          </a:xfrm>
          <a:prstGeom prst="rect">
            <a:avLst/>
          </a:prstGeom>
          <a:solidFill>
            <a:srgbClr val="F0F2F5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061972" y="1636776"/>
            <a:ext cx="15681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11111"/>
                </a:solidFill>
              </a:rPr>
              <a:t>45%  (5/11)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703320" y="1600200"/>
            <a:ext cx="1714500" cy="384048"/>
          </a:xfrm>
          <a:prstGeom prst="rect">
            <a:avLst/>
          </a:prstGeom>
          <a:solidFill>
            <a:srgbClr val="F0F2F5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76472" y="1636776"/>
            <a:ext cx="15681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11111"/>
                </a:solidFill>
              </a:rPr>
              <a:t>11 / 45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17820" y="1600200"/>
            <a:ext cx="1714500" cy="384048"/>
          </a:xfrm>
          <a:prstGeom prst="rect">
            <a:avLst/>
          </a:prstGeom>
          <a:solidFill>
            <a:srgbClr val="F0F2F5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90972" y="1636776"/>
            <a:ext cx="15681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11111"/>
                </a:solidFill>
              </a:rPr>
              <a:t>文献ベース sign のみ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1984248"/>
            <a:ext cx="17145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7472" y="2020824"/>
            <a:ext cx="15681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11111"/>
                </a:solidFill>
              </a:rPr>
              <a:t>単種 pFBA v1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988820" y="1984248"/>
            <a:ext cx="17145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061972" y="2020824"/>
            <a:ext cx="15681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11111"/>
                </a:solidFill>
              </a:rPr>
              <a:t>88%  (29/33)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703320" y="1984248"/>
            <a:ext cx="17145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776472" y="2020824"/>
            <a:ext cx="15681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11111"/>
                </a:solidFill>
              </a:rPr>
              <a:t>33 / 45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17820" y="1984248"/>
            <a:ext cx="17145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90972" y="2020824"/>
            <a:ext cx="15681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11111"/>
                </a:solidFill>
              </a:rPr>
              <a:t>Blood-plasma medium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2368296"/>
            <a:ext cx="1714500" cy="384048"/>
          </a:xfrm>
          <a:prstGeom prst="rect">
            <a:avLst/>
          </a:prstGeom>
          <a:solidFill>
            <a:srgbClr val="F0F2F5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47472" y="2404872"/>
            <a:ext cx="15681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11111"/>
                </a:solidFill>
              </a:rPr>
              <a:t>単種 pFBA v2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988820" y="2368296"/>
            <a:ext cx="1714500" cy="384048"/>
          </a:xfrm>
          <a:prstGeom prst="rect">
            <a:avLst/>
          </a:prstGeom>
          <a:solidFill>
            <a:srgbClr val="F0F2F5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061972" y="2404872"/>
            <a:ext cx="15681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11111"/>
                </a:solidFill>
              </a:rPr>
              <a:t>81%  (21/26)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703320" y="2368296"/>
            <a:ext cx="1714500" cy="384048"/>
          </a:xfrm>
          <a:prstGeom prst="rect">
            <a:avLst/>
          </a:prstGeom>
          <a:solidFill>
            <a:srgbClr val="F0F2F5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776472" y="2404872"/>
            <a:ext cx="15681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11111"/>
                </a:solidFill>
              </a:rPr>
              <a:t>26 / 45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17820" y="2368296"/>
            <a:ext cx="1714500" cy="384048"/>
          </a:xfrm>
          <a:prstGeom prst="rect">
            <a:avLst/>
          </a:prstGeom>
          <a:solidFill>
            <a:srgbClr val="F0F2F5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90972" y="2404872"/>
            <a:ext cx="15681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11111"/>
                </a:solidFill>
              </a:rPr>
              <a:t>唾液相当(乏しすぎ)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" y="2752344"/>
            <a:ext cx="1714500" cy="384048"/>
          </a:xfrm>
          <a:prstGeom prst="rect">
            <a:avLst/>
          </a:prstGeom>
          <a:solidFill>
            <a:srgbClr val="E8F4EC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47472" y="2788920"/>
            <a:ext cx="15681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7340"/>
                </a:solidFill>
              </a:rPr>
              <a:t>MICOM (τ=0.5)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988820" y="2752344"/>
            <a:ext cx="1714500" cy="384048"/>
          </a:xfrm>
          <a:prstGeom prst="rect">
            <a:avLst/>
          </a:prstGeom>
          <a:solidFill>
            <a:srgbClr val="E8F4EC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061972" y="2788920"/>
            <a:ext cx="15681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7340"/>
                </a:solidFill>
              </a:rPr>
              <a:t>100% (72/72)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703320" y="2752344"/>
            <a:ext cx="1714500" cy="384048"/>
          </a:xfrm>
          <a:prstGeom prst="rect">
            <a:avLst/>
          </a:prstGeom>
          <a:solidFill>
            <a:srgbClr val="E8F4EC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776472" y="2788920"/>
            <a:ext cx="15681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7340"/>
                </a:solidFill>
              </a:rPr>
              <a:t>72 / 90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17820" y="2752344"/>
            <a:ext cx="1714500" cy="384048"/>
          </a:xfrm>
          <a:prstGeom prst="rect">
            <a:avLst/>
          </a:prstGeom>
          <a:solidFill>
            <a:srgbClr val="E8F4EC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90972" y="2788920"/>
            <a:ext cx="15681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7340"/>
                </a:solidFill>
              </a:rPr>
              <a:t>★ Flux-weighted, toxin→全菌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74320" y="379476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3D7A"/>
                </a:solidFill>
              </a:rPr>
              <a:t>"Perfect" 版の 3 つの改良点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74320" y="4206240"/>
            <a:ext cx="1714500" cy="384048"/>
          </a:xfrm>
          <a:prstGeom prst="rect">
            <a:avLst/>
          </a:prstGeom>
          <a:solidFill>
            <a:srgbClr val="1A3D7A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47472" y="4242816"/>
            <a:ext cx="15681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改良点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988820" y="4206240"/>
            <a:ext cx="1714500" cy="384048"/>
          </a:xfrm>
          <a:prstGeom prst="rect">
            <a:avLst/>
          </a:prstGeom>
          <a:solidFill>
            <a:srgbClr val="1A3D7A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061972" y="4242816"/>
            <a:ext cx="15681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v0 (初期)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703320" y="4206240"/>
            <a:ext cx="1714500" cy="384048"/>
          </a:xfrm>
          <a:prstGeom prst="rect">
            <a:avLst/>
          </a:prstGeom>
          <a:solidFill>
            <a:srgbClr val="1A3D7A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776472" y="4242816"/>
            <a:ext cx="15681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Perfect 版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417820" y="4206240"/>
            <a:ext cx="1714500" cy="384048"/>
          </a:xfrm>
          <a:prstGeom prst="rect">
            <a:avLst/>
          </a:prstGeom>
          <a:solidFill>
            <a:srgbClr val="1A3D7A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490972" y="4242816"/>
            <a:ext cx="15681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理由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74320" y="4590288"/>
            <a:ext cx="1714500" cy="384048"/>
          </a:xfrm>
          <a:prstGeom prst="rect">
            <a:avLst/>
          </a:prstGeom>
          <a:solidFill>
            <a:srgbClr val="F0F2F5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47472" y="4626864"/>
            <a:ext cx="15681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11111"/>
                </a:solidFill>
              </a:rPr>
              <a:t>Tradeoff τ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988820" y="4590288"/>
            <a:ext cx="1714500" cy="384048"/>
          </a:xfrm>
          <a:prstGeom prst="rect">
            <a:avLst/>
          </a:prstGeom>
          <a:solidFill>
            <a:srgbClr val="F0F2F5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061972" y="4626864"/>
            <a:ext cx="15681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11111"/>
                </a:solidFill>
              </a:rPr>
              <a:t>τ = 0.3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703320" y="4590288"/>
            <a:ext cx="1714500" cy="384048"/>
          </a:xfrm>
          <a:prstGeom prst="rect">
            <a:avLst/>
          </a:prstGeom>
          <a:solidFill>
            <a:srgbClr val="F0F2F5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776472" y="4626864"/>
            <a:ext cx="15681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11111"/>
                </a:solidFill>
              </a:rPr>
              <a:t>τ = 0.5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417820" y="4590288"/>
            <a:ext cx="1714500" cy="384048"/>
          </a:xfrm>
          <a:prstGeom prst="rect">
            <a:avLst/>
          </a:prstGeom>
          <a:solidFill>
            <a:srgbClr val="F0F2F5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490972" y="4626864"/>
            <a:ext cx="15681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11111"/>
                </a:solidFill>
              </a:rPr>
              <a:t>Diener 2020 推奨値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74320" y="4974336"/>
            <a:ext cx="17145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47472" y="5010912"/>
            <a:ext cx="15681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11111"/>
                </a:solidFill>
              </a:rPr>
              <a:t>Cross-feeding 重み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988820" y="4974336"/>
            <a:ext cx="17145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061972" y="5010912"/>
            <a:ext cx="15681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11111"/>
                </a:solidFill>
              </a:rPr>
              <a:t>バイナリ +1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703320" y="4974336"/>
            <a:ext cx="17145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776472" y="5010912"/>
            <a:ext cx="15681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11111"/>
                </a:solidFill>
              </a:rPr>
              <a:t>min(src, |tgt|)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417820" y="4974336"/>
            <a:ext cx="17145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490972" y="5010912"/>
            <a:ext cx="15681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11111"/>
                </a:solidFill>
              </a:rPr>
              <a:t>高 flux を正当評価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74320" y="5358384"/>
            <a:ext cx="1714500" cy="384048"/>
          </a:xfrm>
          <a:prstGeom prst="rect">
            <a:avLst/>
          </a:prstGeom>
          <a:solidFill>
            <a:srgbClr val="F0F2F5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47472" y="5394960"/>
            <a:ext cx="15681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11111"/>
                </a:solidFill>
              </a:rPr>
              <a:t>毒素シグナル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988820" y="5358384"/>
            <a:ext cx="1714500" cy="384048"/>
          </a:xfrm>
          <a:prstGeom prst="rect">
            <a:avLst/>
          </a:prstGeom>
          <a:solidFill>
            <a:srgbClr val="F0F2F5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2061972" y="5394960"/>
            <a:ext cx="15681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11111"/>
                </a:solidFill>
              </a:rPr>
              <a:t>consumer のみ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703320" y="5358384"/>
            <a:ext cx="1714500" cy="384048"/>
          </a:xfrm>
          <a:prstGeom prst="rect">
            <a:avLst/>
          </a:prstGeom>
          <a:solidFill>
            <a:srgbClr val="F0F2F5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3776472" y="5394960"/>
            <a:ext cx="15681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11111"/>
                </a:solidFill>
              </a:rPr>
              <a:t>全 guild に伝播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417820" y="5358384"/>
            <a:ext cx="1714500" cy="384048"/>
          </a:xfrm>
          <a:prstGeom prst="rect">
            <a:avLst/>
          </a:prstGeom>
          <a:solidFill>
            <a:srgbClr val="F0F2F5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5490972" y="5394960"/>
            <a:ext cx="15681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11111"/>
                </a:solidFill>
              </a:rPr>
              <a:t>毒素は拡散・代謝しない</a:t>
            </a:r>
          </a:p>
        </p:txBody>
      </p:sp>
      <p:sp>
        <p:nvSpPr>
          <p:cNvPr id="79" name="Rectangle 78"/>
          <p:cNvSpPr/>
          <p:nvPr/>
        </p:nvSpPr>
        <p:spPr>
          <a:xfrm>
            <a:off x="7406640" y="1188720"/>
            <a:ext cx="4480560" cy="5166360"/>
          </a:xfrm>
          <a:prstGeom prst="rect">
            <a:avLst/>
          </a:prstGeom>
          <a:solidFill>
            <a:srgbClr val="F5F8FF"/>
          </a:solidFill>
          <a:ln w="19050">
            <a:solidFill>
              <a:srgbClr val="1A3D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7543800" y="1261872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3D7A"/>
                </a:solidFill>
              </a:rPr>
              <a:t>LOO-CV 最終結果 (2026-05-20)</a:t>
            </a:r>
          </a:p>
        </p:txBody>
      </p:sp>
      <p:sp>
        <p:nvSpPr>
          <p:cNvPr id="81" name="Rectangle 80"/>
          <p:cNvSpPr/>
          <p:nvPr/>
        </p:nvSpPr>
        <p:spPr>
          <a:xfrm>
            <a:off x="7406640" y="1691640"/>
            <a:ext cx="1493520" cy="347472"/>
          </a:xfrm>
          <a:prstGeom prst="rect">
            <a:avLst/>
          </a:prstGeom>
          <a:solidFill>
            <a:srgbClr val="1A3D7A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7479792" y="1728216"/>
            <a:ext cx="13472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モデル</a:t>
            </a:r>
          </a:p>
        </p:txBody>
      </p:sp>
      <p:sp>
        <p:nvSpPr>
          <p:cNvPr id="83" name="Rectangle 82"/>
          <p:cNvSpPr/>
          <p:nvPr/>
        </p:nvSpPr>
        <p:spPr>
          <a:xfrm>
            <a:off x="8900160" y="1691640"/>
            <a:ext cx="1493520" cy="347472"/>
          </a:xfrm>
          <a:prstGeom prst="rect">
            <a:avLst/>
          </a:prstGeom>
          <a:solidFill>
            <a:srgbClr val="1A3D7A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8973312" y="1728216"/>
            <a:ext cx="13472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RMSE</a:t>
            </a:r>
          </a:p>
        </p:txBody>
      </p:sp>
      <p:sp>
        <p:nvSpPr>
          <p:cNvPr id="85" name="Rectangle 84"/>
          <p:cNvSpPr/>
          <p:nvPr/>
        </p:nvSpPr>
        <p:spPr>
          <a:xfrm>
            <a:off x="10393680" y="1691640"/>
            <a:ext cx="1493520" cy="347472"/>
          </a:xfrm>
          <a:prstGeom prst="rect">
            <a:avLst/>
          </a:prstGeom>
          <a:solidFill>
            <a:srgbClr val="1A3D7A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10466832" y="1728216"/>
            <a:ext cx="13472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SA</a:t>
            </a:r>
          </a:p>
        </p:txBody>
      </p:sp>
      <p:sp>
        <p:nvSpPr>
          <p:cNvPr id="87" name="Rectangle 86"/>
          <p:cNvSpPr/>
          <p:nvPr/>
        </p:nvSpPr>
        <p:spPr>
          <a:xfrm>
            <a:off x="7406640" y="2039112"/>
            <a:ext cx="1493520" cy="347472"/>
          </a:xfrm>
          <a:prstGeom prst="rect">
            <a:avLst/>
          </a:prstGeom>
          <a:solidFill>
            <a:srgbClr val="E8F4EC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7479792" y="2075688"/>
            <a:ext cx="13472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7340"/>
                </a:solidFill>
              </a:rPr>
              <a:t>Hamilton MICOM τ=0.5</a:t>
            </a:r>
          </a:p>
        </p:txBody>
      </p:sp>
      <p:sp>
        <p:nvSpPr>
          <p:cNvPr id="89" name="Rectangle 88"/>
          <p:cNvSpPr/>
          <p:nvPr/>
        </p:nvSpPr>
        <p:spPr>
          <a:xfrm>
            <a:off x="8900160" y="2039112"/>
            <a:ext cx="1493520" cy="347472"/>
          </a:xfrm>
          <a:prstGeom prst="rect">
            <a:avLst/>
          </a:prstGeom>
          <a:solidFill>
            <a:srgbClr val="E8F4EC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8973312" y="2075688"/>
            <a:ext cx="13472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7340"/>
                </a:solidFill>
              </a:rPr>
              <a:t>0.0502</a:t>
            </a:r>
          </a:p>
        </p:txBody>
      </p:sp>
      <p:sp>
        <p:nvSpPr>
          <p:cNvPr id="91" name="Rectangle 90"/>
          <p:cNvSpPr/>
          <p:nvPr/>
        </p:nvSpPr>
        <p:spPr>
          <a:xfrm>
            <a:off x="10393680" y="2039112"/>
            <a:ext cx="1493520" cy="347472"/>
          </a:xfrm>
          <a:prstGeom prst="rect">
            <a:avLst/>
          </a:prstGeom>
          <a:solidFill>
            <a:srgbClr val="E8F4EC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10466832" y="2075688"/>
            <a:ext cx="13472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7340"/>
                </a:solidFill>
              </a:rPr>
              <a:t>72/72</a:t>
            </a:r>
          </a:p>
        </p:txBody>
      </p:sp>
      <p:sp>
        <p:nvSpPr>
          <p:cNvPr id="93" name="Rectangle 92"/>
          <p:cNvSpPr/>
          <p:nvPr/>
        </p:nvSpPr>
        <p:spPr>
          <a:xfrm>
            <a:off x="7406640" y="2386584"/>
            <a:ext cx="14935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7479792" y="2423160"/>
            <a:ext cx="13472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11111"/>
                </a:solidFill>
              </a:rPr>
              <a:t>Hamilton AGORA-v1</a:t>
            </a:r>
          </a:p>
        </p:txBody>
      </p:sp>
      <p:sp>
        <p:nvSpPr>
          <p:cNvPr id="95" name="Rectangle 94"/>
          <p:cNvSpPr/>
          <p:nvPr/>
        </p:nvSpPr>
        <p:spPr>
          <a:xfrm>
            <a:off x="8900160" y="2386584"/>
            <a:ext cx="14935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8973312" y="2423160"/>
            <a:ext cx="13472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11111"/>
                </a:solidFill>
              </a:rPr>
              <a:t>0.0562</a:t>
            </a:r>
          </a:p>
        </p:txBody>
      </p:sp>
      <p:sp>
        <p:nvSpPr>
          <p:cNvPr id="97" name="Rectangle 96"/>
          <p:cNvSpPr/>
          <p:nvPr/>
        </p:nvSpPr>
        <p:spPr>
          <a:xfrm>
            <a:off x="10393680" y="2386584"/>
            <a:ext cx="14935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10466832" y="2423160"/>
            <a:ext cx="13472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11111"/>
                </a:solidFill>
              </a:rPr>
              <a:t>66/70</a:t>
            </a:r>
          </a:p>
        </p:txBody>
      </p:sp>
      <p:sp>
        <p:nvSpPr>
          <p:cNvPr id="99" name="Rectangle 98"/>
          <p:cNvSpPr/>
          <p:nvPr/>
        </p:nvSpPr>
        <p:spPr>
          <a:xfrm>
            <a:off x="7406640" y="2734056"/>
            <a:ext cx="1493520" cy="347472"/>
          </a:xfrm>
          <a:prstGeom prst="rect">
            <a:avLst/>
          </a:prstGeom>
          <a:solidFill>
            <a:srgbClr val="F0F2F5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7479792" y="2770632"/>
            <a:ext cx="13472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55555"/>
                </a:solidFill>
              </a:rPr>
              <a:t>Hamilton no-prior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8900160" y="2734056"/>
            <a:ext cx="1493520" cy="347472"/>
          </a:xfrm>
          <a:prstGeom prst="rect">
            <a:avLst/>
          </a:prstGeom>
          <a:solidFill>
            <a:srgbClr val="F0F2F5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8973312" y="2770632"/>
            <a:ext cx="13472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55555"/>
                </a:solidFill>
              </a:rPr>
              <a:t>0.0595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10393680" y="2734056"/>
            <a:ext cx="1493520" cy="347472"/>
          </a:xfrm>
          <a:prstGeom prst="rect">
            <a:avLst/>
          </a:prstGeom>
          <a:solidFill>
            <a:srgbClr val="F0F2F5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10466832" y="2770632"/>
            <a:ext cx="13472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55555"/>
                </a:solidFill>
              </a:rPr>
              <a:t>20/28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7406640" y="3081528"/>
            <a:ext cx="14935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7479792" y="3118104"/>
            <a:ext cx="13472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11111"/>
                </a:solidFill>
              </a:rPr>
              <a:t>gLV MICOM τ=0.5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8900160" y="3081528"/>
            <a:ext cx="14935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8973312" y="3118104"/>
            <a:ext cx="13472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11111"/>
                </a:solidFill>
              </a:rPr>
              <a:t>0.0513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10393680" y="3081528"/>
            <a:ext cx="14935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10466832" y="3118104"/>
            <a:ext cx="13472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11111"/>
                </a:solidFill>
              </a:rPr>
              <a:t>71/72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7406640" y="3429000"/>
            <a:ext cx="1493520" cy="347472"/>
          </a:xfrm>
          <a:prstGeom prst="rect">
            <a:avLst/>
          </a:prstGeom>
          <a:solidFill>
            <a:srgbClr val="F0F2F5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7479792" y="3465576"/>
            <a:ext cx="13472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11111"/>
                </a:solidFill>
              </a:rPr>
              <a:t>gLV AGORA-v1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8900160" y="3429000"/>
            <a:ext cx="1493520" cy="347472"/>
          </a:xfrm>
          <a:prstGeom prst="rect">
            <a:avLst/>
          </a:prstGeom>
          <a:solidFill>
            <a:srgbClr val="F0F2F5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8973312" y="3465576"/>
            <a:ext cx="13472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11111"/>
                </a:solidFill>
              </a:rPr>
              <a:t>0.0499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10393680" y="3429000"/>
            <a:ext cx="1493520" cy="347472"/>
          </a:xfrm>
          <a:prstGeom prst="rect">
            <a:avLst/>
          </a:prstGeom>
          <a:solidFill>
            <a:srgbClr val="F0F2F5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10466832" y="3465576"/>
            <a:ext cx="13472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11111"/>
                </a:solidFill>
              </a:rPr>
              <a:t>52/53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7406640" y="3776472"/>
            <a:ext cx="1493520" cy="347472"/>
          </a:xfrm>
          <a:prstGeom prst="rect">
            <a:avLst/>
          </a:prstGeom>
          <a:solidFill>
            <a:srgbClr val="E8F4EC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7479792" y="3813048"/>
            <a:ext cx="13472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7340"/>
                </a:solidFill>
              </a:rPr>
              <a:t>gLV α=0.25 ★best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8900160" y="3776472"/>
            <a:ext cx="1493520" cy="347472"/>
          </a:xfrm>
          <a:prstGeom prst="rect">
            <a:avLst/>
          </a:prstGeom>
          <a:solidFill>
            <a:srgbClr val="E8F4EC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8973312" y="3813048"/>
            <a:ext cx="13472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7340"/>
                </a:solidFill>
              </a:rPr>
              <a:t>0.0490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10393680" y="3776472"/>
            <a:ext cx="1493520" cy="347472"/>
          </a:xfrm>
          <a:prstGeom prst="rect">
            <a:avLst/>
          </a:prstGeom>
          <a:solidFill>
            <a:srgbClr val="E8F4EC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10466832" y="3813048"/>
            <a:ext cx="13472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7340"/>
                </a:solidFill>
              </a:rPr>
              <a:t>32/33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
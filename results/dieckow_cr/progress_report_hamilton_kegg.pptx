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Sign Prior Layer 3: なぜ MICOM を選んだか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DFF"/>
                </a:solidFill>
              </a:rPr>
              <a:t>— 単種 pFBA / MacArthur / Growth-Rate Suppression の失敗と MICOM への移行 —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5394960" cy="384048"/>
          </a:xfrm>
          <a:prstGeom prst="rect">
            <a:avLst/>
          </a:prstGeom>
          <a:solidFill>
            <a:srgbClr val="CC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8872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❌  MacArthur コサイン類似度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27048"/>
            <a:ext cx="5394960" cy="2084832"/>
          </a:xfrm>
          <a:prstGeom prst="rect">
            <a:avLst/>
          </a:prstGeom>
          <a:solidFill>
            <a:srgbClr val="F0F2F5"/>
          </a:solidFill>
          <a:ln w="12700">
            <a:solidFill>
              <a:srgbClr val="CC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61848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</a:rPr>
              <a:t>• competition[i,j] = (c_i · c_j) / (|c_i| |c_j|)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659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</a:rPr>
              <a:t>• 失敗理由: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31343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  口腔菌はすべて generalist（アミノ酸・糖を全員が使う）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1518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  → cosine ≈ 1.0 for all pairs → 全ペアが競合と誤判定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916936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  MacArthur (1970) の前提「種ごとに異なるニッチ資源」が不成立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794760"/>
            <a:ext cx="5394960" cy="384048"/>
          </a:xfrm>
          <a:prstGeom prst="rect">
            <a:avLst/>
          </a:prstGeom>
          <a:solidFill>
            <a:srgbClr val="CC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84048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❌  Growth Rate Suppression (GRS)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178808"/>
            <a:ext cx="5394960" cy="2176272"/>
          </a:xfrm>
          <a:prstGeom prst="rect">
            <a:avLst/>
          </a:prstGeom>
          <a:solidFill>
            <a:srgbClr val="F0F2F5"/>
          </a:solidFill>
          <a:ln w="12700">
            <a:solidFill>
              <a:srgbClr val="CC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27024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</a:rPr>
              <a:t>• competition[i,j] = (μ_i(full) − μ_i(depleted)) / μ_i(full)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6177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</a:rPr>
              <a:t>• 失敗理由: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96519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  v2 唾液培地が極度に乏しく、菌は barely surviving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26694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  → j の uptake で何かが枯渇すると i が完全に成長停止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568696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  81 / 90 ペアで Δμ/μ ≈ 100%  → 非特異的すぎて使えない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1143000"/>
            <a:ext cx="5943600" cy="384048"/>
          </a:xfrm>
          <a:prstGeom prst="rect">
            <a:avLst/>
          </a:prstGeom>
          <a:solidFill>
            <a:srgbClr val="E07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0760" y="1188720"/>
            <a:ext cx="5669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⚠️  単種 pFBA（v1 / v2）の限界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1527048"/>
            <a:ext cx="5943600" cy="2084832"/>
          </a:xfrm>
          <a:prstGeom prst="rect">
            <a:avLst/>
          </a:prstGeom>
          <a:solidFill>
            <a:srgbClr val="F0F2F5"/>
          </a:solidFill>
          <a:ln w="12700">
            <a:solidFill>
              <a:srgbClr val="E07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0" y="1618488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</a:rPr>
              <a:t>• 各菌を独立に FBA → 代謝物の「移動可能性」しか見ない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19659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</a:rPr>
              <a:t>• 実際に j から i へ代謝物が流れているか不明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0" y="2313432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</a:rPr>
              <a:t>• v1: 培地が現実の 100 倍豊富 → シグナルは強いが非現実的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2660904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</a:rPr>
              <a:t>• v2: 培地が乏しすぎ → cross-feeding シグナルが弱い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3008376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</a:rPr>
              <a:t>• 競合シグナル: MacArthur/GRS ともに失敗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3794760"/>
            <a:ext cx="5943600" cy="2560320"/>
          </a:xfrm>
          <a:prstGeom prst="rect">
            <a:avLst/>
          </a:prstGeom>
          <a:solidFill>
            <a:srgbClr val="E8F4EC"/>
          </a:solidFill>
          <a:ln w="25400">
            <a:solidFill>
              <a:srgbClr val="1A73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80760" y="38862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7340"/>
                </a:solidFill>
              </a:rPr>
              <a:t>✅  MICOM の採用理由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434340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</a:rPr>
              <a:t>• 10 菌を同時に入れた community FBA を解く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4681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</a:rPr>
              <a:t>• → 実際に代謝物が j から i へ「流れているか」を直接確認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50200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</a:rPr>
              <a:t>• → 口腔菌 generalist 問題を回避（ニッチ競合でなくフラックス）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5358383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7340"/>
                </a:solidFill>
              </a:rPr>
              <a:t>• → Streptococcus → Veillonella 乳酸 cross-feeding を直接実証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569671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7340"/>
                </a:solidFill>
              </a:rPr>
              <a:t>• → Sign Agreement: 100% (36/36)  vs  v1: 88% (29/33)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MICOM のメカニズム: Community FBA + Cooperative Tradeoff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DFF"/>
                </a:solidFill>
              </a:rPr>
              <a:t>Diener et al. 2020, mSystems 5:e00606-19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2834640" cy="411480"/>
          </a:xfrm>
          <a:prstGeom prst="rect">
            <a:avLst/>
          </a:prstGeom>
          <a:solidFill>
            <a:srgbClr val="3A6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Step 1: 10 guild モデルを統合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600200"/>
            <a:ext cx="2834640" cy="1737360"/>
          </a:xfrm>
          <a:prstGeom prst="rect">
            <a:avLst/>
          </a:prstGeom>
          <a:solidFill>
            <a:srgbClr val="F0F2F5"/>
          </a:solidFill>
          <a:ln w="12700">
            <a:solidFill>
              <a:srgbClr val="3A6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664208"/>
            <a:ext cx="26517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AGORA2 SBML × 10 guild
→ 1 つの community モデル
（共有培地プール）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21488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3A6EC8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39" y="1188720"/>
            <a:ext cx="2834640" cy="411480"/>
          </a:xfrm>
          <a:prstGeom prst="rect">
            <a:avLst/>
          </a:prstGeom>
          <a:solidFill>
            <a:srgbClr val="3A6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79" y="12344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Step 2: Cooperative Tradeoff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39" y="1600200"/>
            <a:ext cx="2834640" cy="1737360"/>
          </a:xfrm>
          <a:prstGeom prst="rect">
            <a:avLst/>
          </a:prstGeom>
          <a:solidFill>
            <a:srgbClr val="F0F2F5"/>
          </a:solidFill>
          <a:ln w="12700">
            <a:solidFill>
              <a:srgbClr val="3A6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79" y="1664208"/>
            <a:ext cx="26517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maximize  min_i(μ_i / μ_i_max)
s.t.  Σμ_i ≥ τ × Σμ_i_max
τ = 0.5 (Diener 2020 default)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199" y="21488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3A6EC8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59" y="1188720"/>
            <a:ext cx="2834640" cy="411480"/>
          </a:xfrm>
          <a:prstGeom prst="rect">
            <a:avLst/>
          </a:prstGeom>
          <a:solidFill>
            <a:srgbClr val="3A6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799" y="12344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Step 3: Flux 方向を抽出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59" y="1600200"/>
            <a:ext cx="2834640" cy="1737360"/>
          </a:xfrm>
          <a:prstGeom prst="rect">
            <a:avLst/>
          </a:prstGeom>
          <a:solidFill>
            <a:srgbClr val="F0F2F5"/>
          </a:solidFill>
          <a:ln w="12700">
            <a:solidFill>
              <a:srgbClr val="3A6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799" y="1664208"/>
            <a:ext cx="26517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各 exchange rxn につき
  分泌菌 (flux &gt; 0)
  消費菌 (flux &lt; 0)
→ 実際の代謝物移動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19" y="21488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3A6EC8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0" y="1188720"/>
            <a:ext cx="2834640" cy="411480"/>
          </a:xfrm>
          <a:prstGeom prst="rect">
            <a:avLst/>
          </a:prstGeom>
          <a:solidFill>
            <a:srgbClr val="3A6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12344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Step 4: Sign Prior 生成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26880" y="1600200"/>
            <a:ext cx="2834640" cy="1737360"/>
          </a:xfrm>
          <a:prstGeom prst="rect">
            <a:avLst/>
          </a:prstGeom>
          <a:solidFill>
            <a:srgbClr val="F0F2F5"/>
          </a:solidFill>
          <a:ln w="12700">
            <a:solidFill>
              <a:srgbClr val="3A6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0" y="1664208"/>
            <a:ext cx="26517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pos[i,j] += min(src, |tgt|)
（flux 量で重み付け）
neg[i,j]: H₂O₂, H₂S → 全菌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520440"/>
            <a:ext cx="7315200" cy="2377440"/>
          </a:xfrm>
          <a:prstGeom prst="rect">
            <a:avLst/>
          </a:prstGeom>
          <a:solidFill>
            <a:srgbClr val="E8F4EC"/>
          </a:solidFill>
          <a:ln w="19050">
            <a:solidFill>
              <a:srgbClr val="1A73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3566160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7340"/>
                </a:solidFill>
              </a:rPr>
              <a:t>実測 Community Flux の例: Streptococcus → Veillonella 乳酸 cross-feeding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005072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EX_lac_L(e):
  Bacilli   (Streptococcus)  secretion  = +97.7 mmol/gDW/h
  Negativicutes (Veillonella) uptake     = −97.9 mmol/gDW/h
  → pos[Negativicutes, Bacilli] += 97.7   (高重み)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63840" y="3520440"/>
            <a:ext cx="4023360" cy="2377440"/>
          </a:xfrm>
          <a:prstGeom prst="rect">
            <a:avLst/>
          </a:prstGeom>
          <a:solidFill>
            <a:srgbClr val="F0F0FF"/>
          </a:solidFill>
          <a:ln w="19050">
            <a:solidFill>
              <a:srgbClr val="3A6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1000" y="356616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D7A"/>
                </a:solidFill>
              </a:rPr>
              <a:t>なぜ Generalist 問題を解決？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4005072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全員が同じ資源を使えても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4325112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→ community FBA で資源を「分配」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4645152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→ 各菌が実際に使う経路が決まる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4965191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5285232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MacArthur: 使える？ (static)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5605272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D7A"/>
                </a:solidFill>
              </a:rPr>
              <a:t>MICOM: 実際に使った？ (dynamic)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MICOM Sign Prior: 結果比較と "Perfect" 版の改良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DFF"/>
                </a:solidFill>
              </a:rPr>
              <a:t>sign agreement / constrained pairs / LOO-RMSE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1714500" cy="411480"/>
          </a:xfrm>
          <a:prstGeom prst="rect">
            <a:avLst/>
          </a:prstGeom>
          <a:solidFill>
            <a:srgbClr val="1A3D7A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1225296"/>
            <a:ext cx="156819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手法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1988820" y="1188720"/>
            <a:ext cx="1714500" cy="411480"/>
          </a:xfrm>
          <a:prstGeom prst="rect">
            <a:avLst/>
          </a:prstGeom>
          <a:solidFill>
            <a:srgbClr val="1A3D7A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61972" y="1225296"/>
            <a:ext cx="156819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Sign Agreement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1188720"/>
            <a:ext cx="1714500" cy="411480"/>
          </a:xfrm>
          <a:prstGeom prst="rect">
            <a:avLst/>
          </a:prstGeom>
          <a:solidFill>
            <a:srgbClr val="1A3D7A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76472" y="1225296"/>
            <a:ext cx="156819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制約ペア数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17820" y="1188720"/>
            <a:ext cx="1714500" cy="411480"/>
          </a:xfrm>
          <a:prstGeom prst="rect">
            <a:avLst/>
          </a:prstGeom>
          <a:solidFill>
            <a:srgbClr val="1A3D7A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90972" y="1225296"/>
            <a:ext cx="1568196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備考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600200"/>
            <a:ext cx="1714500" cy="384048"/>
          </a:xfrm>
          <a:prstGeom prst="rect">
            <a:avLst/>
          </a:prstGeom>
          <a:solidFill>
            <a:srgbClr val="F0F2F5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1636776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11111"/>
                </a:solidFill>
              </a:rPr>
              <a:t>文献 L1+L2 のみ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88820" y="1600200"/>
            <a:ext cx="1714500" cy="384048"/>
          </a:xfrm>
          <a:prstGeom prst="rect">
            <a:avLst/>
          </a:prstGeom>
          <a:solidFill>
            <a:srgbClr val="F0F2F5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61972" y="1636776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11111"/>
                </a:solidFill>
              </a:rPr>
              <a:t>45%  (5/11)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03320" y="1600200"/>
            <a:ext cx="1714500" cy="384048"/>
          </a:xfrm>
          <a:prstGeom prst="rect">
            <a:avLst/>
          </a:prstGeom>
          <a:solidFill>
            <a:srgbClr val="F0F2F5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76472" y="1636776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11111"/>
                </a:solidFill>
              </a:rPr>
              <a:t>11 / 45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17820" y="1600200"/>
            <a:ext cx="1714500" cy="384048"/>
          </a:xfrm>
          <a:prstGeom prst="rect">
            <a:avLst/>
          </a:prstGeom>
          <a:solidFill>
            <a:srgbClr val="F0F2F5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90972" y="1636776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11111"/>
                </a:solidFill>
              </a:rPr>
              <a:t>文献ベース sign のみ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1984248"/>
            <a:ext cx="17145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" y="2020824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11111"/>
                </a:solidFill>
              </a:rPr>
              <a:t>単種 pFBA v1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88820" y="1984248"/>
            <a:ext cx="17145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61972" y="2020824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11111"/>
                </a:solidFill>
              </a:rPr>
              <a:t>88%  (29/33)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03320" y="1984248"/>
            <a:ext cx="17145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76472" y="2020824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11111"/>
                </a:solidFill>
              </a:rPr>
              <a:t>33 / 45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17820" y="1984248"/>
            <a:ext cx="17145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90972" y="2020824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11111"/>
                </a:solidFill>
              </a:rPr>
              <a:t>Blood-plasma medium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368296"/>
            <a:ext cx="1714500" cy="384048"/>
          </a:xfrm>
          <a:prstGeom prst="rect">
            <a:avLst/>
          </a:prstGeom>
          <a:solidFill>
            <a:srgbClr val="F0F2F5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472" y="2404872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11111"/>
                </a:solidFill>
              </a:rPr>
              <a:t>単種 pFBA v2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88820" y="2368296"/>
            <a:ext cx="1714500" cy="384048"/>
          </a:xfrm>
          <a:prstGeom prst="rect">
            <a:avLst/>
          </a:prstGeom>
          <a:solidFill>
            <a:srgbClr val="F0F2F5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61972" y="2404872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11111"/>
                </a:solidFill>
              </a:rPr>
              <a:t>81%  (21/26)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03320" y="2368296"/>
            <a:ext cx="1714500" cy="384048"/>
          </a:xfrm>
          <a:prstGeom prst="rect">
            <a:avLst/>
          </a:prstGeom>
          <a:solidFill>
            <a:srgbClr val="F0F2F5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76472" y="2404872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11111"/>
                </a:solidFill>
              </a:rPr>
              <a:t>26 / 45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17820" y="2368296"/>
            <a:ext cx="1714500" cy="384048"/>
          </a:xfrm>
          <a:prstGeom prst="rect">
            <a:avLst/>
          </a:prstGeom>
          <a:solidFill>
            <a:srgbClr val="F0F2F5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90972" y="2404872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11111"/>
                </a:solidFill>
              </a:rPr>
              <a:t>唾液相当(乏しすぎ)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2752344"/>
            <a:ext cx="17145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" y="2788920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11111"/>
                </a:solidFill>
              </a:rPr>
              <a:t>MICOM v0  (τ=0.3)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988820" y="2752344"/>
            <a:ext cx="17145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61972" y="2788920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11111"/>
                </a:solidFill>
              </a:rPr>
              <a:t>100% (36/36)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03320" y="2752344"/>
            <a:ext cx="17145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76472" y="2788920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11111"/>
                </a:solidFill>
              </a:rPr>
              <a:t>36 / 45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17820" y="2752344"/>
            <a:ext cx="17145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90972" y="2788920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11111"/>
                </a:solidFill>
              </a:rPr>
              <a:t>初期実装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3136392"/>
            <a:ext cx="1714500" cy="384048"/>
          </a:xfrm>
          <a:prstGeom prst="rect">
            <a:avLst/>
          </a:prstGeom>
          <a:solidFill>
            <a:srgbClr val="E8F4EC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47472" y="3172968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7340"/>
                </a:solidFill>
              </a:rPr>
              <a:t>MICOM perfect (τ=0.5)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88820" y="3136392"/>
            <a:ext cx="1714500" cy="384048"/>
          </a:xfrm>
          <a:prstGeom prst="rect">
            <a:avLst/>
          </a:prstGeom>
          <a:solidFill>
            <a:srgbClr val="E8F4EC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61972" y="3172968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7340"/>
                </a:solidFill>
              </a:rPr>
              <a:t>100% (36/36)+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703320" y="3136392"/>
            <a:ext cx="1714500" cy="384048"/>
          </a:xfrm>
          <a:prstGeom prst="rect">
            <a:avLst/>
          </a:prstGeom>
          <a:solidFill>
            <a:srgbClr val="E8F4EC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776472" y="3172968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7340"/>
                </a:solidFill>
              </a:rPr>
              <a:t>36 / 45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17820" y="3136392"/>
            <a:ext cx="1714500" cy="384048"/>
          </a:xfrm>
          <a:prstGeom prst="rect">
            <a:avLst/>
          </a:prstGeom>
          <a:solidFill>
            <a:srgbClr val="E8F4EC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90972" y="3172968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7340"/>
                </a:solidFill>
              </a:rPr>
              <a:t>★ Flux-weighted, toxin→全菌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4320" y="379476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D7A"/>
                </a:solidFill>
              </a:rPr>
              <a:t>"Perfect" 版の 3 つの改良点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4206240"/>
            <a:ext cx="1714500" cy="384048"/>
          </a:xfrm>
          <a:prstGeom prst="rect">
            <a:avLst/>
          </a:prstGeom>
          <a:solidFill>
            <a:srgbClr val="1A3D7A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7472" y="4242816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改良点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88820" y="4206240"/>
            <a:ext cx="1714500" cy="384048"/>
          </a:xfrm>
          <a:prstGeom prst="rect">
            <a:avLst/>
          </a:prstGeom>
          <a:solidFill>
            <a:srgbClr val="1A3D7A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061972" y="4242816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v0 (初期)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703320" y="4206240"/>
            <a:ext cx="1714500" cy="384048"/>
          </a:xfrm>
          <a:prstGeom prst="rect">
            <a:avLst/>
          </a:prstGeom>
          <a:solidFill>
            <a:srgbClr val="1A3D7A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776472" y="4242816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Perfect 版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17820" y="4206240"/>
            <a:ext cx="1714500" cy="384048"/>
          </a:xfrm>
          <a:prstGeom prst="rect">
            <a:avLst/>
          </a:prstGeom>
          <a:solidFill>
            <a:srgbClr val="1A3D7A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90972" y="4242816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理由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4590288"/>
            <a:ext cx="1714500" cy="384048"/>
          </a:xfrm>
          <a:prstGeom prst="rect">
            <a:avLst/>
          </a:prstGeom>
          <a:solidFill>
            <a:srgbClr val="F0F2F5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7472" y="4626864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11111"/>
                </a:solidFill>
              </a:rPr>
              <a:t>Tradeoff τ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988820" y="4590288"/>
            <a:ext cx="1714500" cy="384048"/>
          </a:xfrm>
          <a:prstGeom prst="rect">
            <a:avLst/>
          </a:prstGeom>
          <a:solidFill>
            <a:srgbClr val="F0F2F5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061972" y="4626864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11111"/>
                </a:solidFill>
              </a:rPr>
              <a:t>τ = 0.3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03320" y="4590288"/>
            <a:ext cx="1714500" cy="384048"/>
          </a:xfrm>
          <a:prstGeom prst="rect">
            <a:avLst/>
          </a:prstGeom>
          <a:solidFill>
            <a:srgbClr val="F0F2F5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776472" y="4626864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11111"/>
                </a:solidFill>
              </a:rPr>
              <a:t>τ = 0.5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17820" y="4590288"/>
            <a:ext cx="1714500" cy="384048"/>
          </a:xfrm>
          <a:prstGeom prst="rect">
            <a:avLst/>
          </a:prstGeom>
          <a:solidFill>
            <a:srgbClr val="F0F2F5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490972" y="4626864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11111"/>
                </a:solidFill>
              </a:rPr>
              <a:t>Diener 2020 推奨値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74320" y="4974336"/>
            <a:ext cx="17145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47472" y="5010912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11111"/>
                </a:solidFill>
              </a:rPr>
              <a:t>Cross-feeding 重み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988820" y="4974336"/>
            <a:ext cx="17145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061972" y="5010912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11111"/>
                </a:solidFill>
              </a:rPr>
              <a:t>バイナリ +1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03320" y="4974336"/>
            <a:ext cx="17145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776472" y="5010912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11111"/>
                </a:solidFill>
              </a:rPr>
              <a:t>min(src, |tgt|)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417820" y="4974336"/>
            <a:ext cx="17145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90972" y="5010912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11111"/>
                </a:solidFill>
              </a:rPr>
              <a:t>高 flux を正当評価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" y="5358384"/>
            <a:ext cx="1714500" cy="384048"/>
          </a:xfrm>
          <a:prstGeom prst="rect">
            <a:avLst/>
          </a:prstGeom>
          <a:solidFill>
            <a:srgbClr val="F0F2F5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47472" y="5394960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11111"/>
                </a:solidFill>
              </a:rPr>
              <a:t>毒素シグナル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988820" y="5358384"/>
            <a:ext cx="1714500" cy="384048"/>
          </a:xfrm>
          <a:prstGeom prst="rect">
            <a:avLst/>
          </a:prstGeom>
          <a:solidFill>
            <a:srgbClr val="F0F2F5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061972" y="5394960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11111"/>
                </a:solidFill>
              </a:rPr>
              <a:t>consumer のみ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703320" y="5358384"/>
            <a:ext cx="1714500" cy="384048"/>
          </a:xfrm>
          <a:prstGeom prst="rect">
            <a:avLst/>
          </a:prstGeom>
          <a:solidFill>
            <a:srgbClr val="F0F2F5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776472" y="5394960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11111"/>
                </a:solidFill>
              </a:rPr>
              <a:t>全 guild に伝播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417820" y="5358384"/>
            <a:ext cx="1714500" cy="384048"/>
          </a:xfrm>
          <a:prstGeom prst="rect">
            <a:avLst/>
          </a:prstGeom>
          <a:solidFill>
            <a:srgbClr val="F0F2F5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90972" y="5394960"/>
            <a:ext cx="15681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11111"/>
                </a:solidFill>
              </a:rPr>
              <a:t>毒素は拡散・代謝しない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406640" y="1188720"/>
            <a:ext cx="4480560" cy="5166360"/>
          </a:xfrm>
          <a:prstGeom prst="rect">
            <a:avLst/>
          </a:prstGeom>
          <a:solidFill>
            <a:srgbClr val="F5F8FF"/>
          </a:solidFill>
          <a:ln w="19050">
            <a:solidFill>
              <a:srgbClr val="1A3D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543800" y="126187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D7A"/>
                </a:solidFill>
              </a:rPr>
              <a:t>LOO-CV ジョブ状況 (2026-05-19)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543800" y="173736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</a:rPr>
              <a:t>Hamilton + MICOM v0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543800" y="2011680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7020"/>
                </a:solidFill>
              </a:rPr>
              <a:t>jobs 40153–40162  →  実行中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43800" y="23774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</a:rPr>
              <a:t>Hamilton + MICOM perfect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543800" y="2651760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7020"/>
                </a:solidFill>
              </a:rPr>
              <a:t>jobs 40164–40173  →  実行中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43800" y="301752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</a:rPr>
              <a:t>gLV + MICOM perfect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543800" y="3291840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7020"/>
                </a:solidFill>
              </a:rPr>
              <a:t>jobs 40174–40183  →  実行中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543800" y="365759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</a:rPr>
              <a:t>compare_signs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543800" y="3931919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7020"/>
                </a:solidFill>
              </a:rPr>
              <a:t>jobs 40163  →  実行中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406640" y="4480560"/>
            <a:ext cx="4480560" cy="1874519"/>
          </a:xfrm>
          <a:prstGeom prst="rect">
            <a:avLst/>
          </a:prstGeom>
          <a:solidFill>
            <a:srgbClr val="F0F8F0"/>
          </a:solidFill>
          <a:ln w="19050">
            <a:solidFill>
              <a:srgbClr val="1A73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543800" y="45262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7340"/>
                </a:solidFill>
              </a:rPr>
              <a:t>比較対象 (baseline)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543800" y="491947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• Hamilton v1 (best): mean RMSE = 0.0562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543800" y="5303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40"/>
                </a:solidFill>
              </a:rPr>
              <a:t>• gLV α=0.25 (best): mean RMSE = 0.0490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543800" y="568756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• No-prior: mean RMSE = 0.0595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